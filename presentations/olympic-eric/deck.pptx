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452.jpg"/>
          <p:cNvPicPr>
            <a:picLocks noChangeAspect="1"/>
          </p:cNvPicPr>
          <p:nvPr/>
        </p:nvPicPr>
        <p:blipFill>
          <a:blip r:embed="rId2"/>
          <a:srcRect l="5337" r="533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crim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68680" y="1010412"/>
            <a:ext cx="274320" cy="32004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96012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C6D3"/>
                </a:solidFill>
                <a:latin typeface="Microsoft JhengHei"/>
              </a:rPr>
              <a:t>2000 雪梨奧運・男子 100 米自由泳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6766560" cy="3200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F3F7FA"/>
                </a:solidFill>
                <a:latin typeface="Microsoft JhengHei"/>
              </a:rPr>
              <a:t>1 分 52 秒 72</a:t>
            </a:r>
          </a:p>
          <a:p>
            <a:pPr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</a:pPr>
            <a:r>
              <a:rPr sz="2500" b="1" i="0">
                <a:solidFill>
                  <a:srgbClr val="34C6D3"/>
                </a:solidFill>
                <a:latin typeface="Microsoft JhengHei"/>
              </a:rPr>
              <a:t>奧運史上最慢的成績，最響的掌聲</a:t>
            </a:r>
          </a:p>
          <a:p>
            <a:pPr algn="l">
              <a:lnSpc>
                <a:spcPct val="140000"/>
              </a:lnSpc>
              <a:spcBef>
                <a:spcPts val="2400"/>
              </a:spcBef>
              <a:spcAft>
                <a:spcPts val="0"/>
              </a:spcAft>
            </a:pPr>
            <a:r>
              <a:rPr sz="1400" b="0" i="0">
                <a:solidFill>
                  <a:srgbClr val="B2C5D4"/>
                </a:solidFill>
                <a:latin typeface="Microsoft JhengHei"/>
              </a:rPr>
              <a:t>一個來自赤道幾內亞的游泳選手——埃里克・莫斯龐巴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897880"/>
            <a:ext cx="2834640" cy="27432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6080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8497"/>
                </a:solidFill>
                <a:latin typeface="Microsoft JhengHei"/>
              </a:rPr>
              <a:t>影片重點整理 ｜ 片長 8 分 07 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18971"/>
            <a:ext cx="274320" cy="32004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C6D3"/>
                </a:solidFill>
                <a:latin typeface="Microsoft JhengHei"/>
              </a:rPr>
              <a:t>開場｜奧運發起人的那句話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81328"/>
            <a:ext cx="548640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3F7FA"/>
                </a:solidFill>
                <a:latin typeface="Microsoft JhengHei"/>
              </a:rPr>
              <a:t>「奧運會最重要的
不是贏，而是參與。」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416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9B44C"/>
                </a:solidFill>
                <a:latin typeface="Microsoft JhengHei"/>
              </a:rPr>
              <a:t>皮耶・德・古柏坦　Pierre de Coubertin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891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C8497"/>
                </a:solidFill>
                <a:latin typeface="Microsoft JhengHei"/>
              </a:rPr>
              <a:t>現代奧林匹克運動發起人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5010912"/>
            <a:ext cx="3931920" cy="18288"/>
          </a:xfrm>
          <a:prstGeom prst="rect">
            <a:avLst/>
          </a:prstGeom>
          <a:solidFill>
            <a:srgbClr val="1D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257800"/>
            <a:ext cx="489204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B2C5D4"/>
                </a:solidFill>
                <a:latin typeface="Microsoft JhengHei"/>
              </a:rPr>
              <a:t>影片說：人生中最本質的東西，不是凱旋。
接下來，要用一個「輸得最徹底」的選手來證明。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810512"/>
            <a:ext cx="566928" cy="27432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00002.jpg"/>
          <p:cNvPicPr>
            <a:picLocks noChangeAspect="1"/>
          </p:cNvPicPr>
          <p:nvPr/>
        </p:nvPicPr>
        <p:blipFill>
          <a:blip r:embed="rId2"/>
          <a:srcRect l="4" r="4"/>
          <a:stretch>
            <a:fillRect/>
          </a:stretch>
        </p:blipFill>
        <p:spPr>
          <a:xfrm>
            <a:off x="6446520" y="1965960"/>
            <a:ext cx="5074920" cy="255021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46520" y="4671619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8497"/>
                </a:solidFill>
                <a:latin typeface="Microsoft JhengHei"/>
              </a:rPr>
              <a:t>古柏坦，現代奧運會發起人。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4375" y="62910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8497"/>
                </a:solidFill>
                <a:latin typeface="Microsoft JhengHei"/>
              </a:rPr>
              <a:t>02 / 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6199632"/>
            <a:ext cx="1737360" cy="18288"/>
          </a:xfrm>
          <a:prstGeom prst="rect">
            <a:avLst/>
          </a:prstGeom>
          <a:solidFill>
            <a:srgbClr val="1D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18971"/>
            <a:ext cx="274320" cy="32004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C6D3"/>
                </a:solidFill>
                <a:latin typeface="Microsoft JhengHei"/>
              </a:rPr>
              <a:t>01　他是誰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525780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3F7FA"/>
                </a:solidFill>
                <a:latin typeface="Microsoft JhengHei"/>
              </a:rPr>
              <a:t>一個創下「史上最差成績」
的奧運傳奇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3" y="3154679"/>
            <a:ext cx="27432" cy="2262251"/>
          </a:xfrm>
          <a:prstGeom prst="rect">
            <a:avLst/>
          </a:prstGeom>
          <a:solidFill>
            <a:srgbClr val="34C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5257800" cy="3017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B2C5D4"/>
                </a:solidFill>
                <a:latin typeface="Microsoft JhengHei"/>
              </a:rPr>
              <a:t>埃里克・莫斯龐巴（Eric Moussambani）</a:t>
            </a:r>
          </a:p>
          <a:p>
            <a:pPr algn="l"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700" b="0" i="0">
                <a:solidFill>
                  <a:srgbClr val="B2C5D4"/>
                </a:solidFill>
                <a:latin typeface="Microsoft JhengHei"/>
              </a:rPr>
              <a:t>來自非洲小國赤道幾內亞</a:t>
            </a:r>
          </a:p>
          <a:p>
            <a:pPr algn="l"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700" b="0" i="0">
                <a:solidFill>
                  <a:srgbClr val="B2C5D4"/>
                </a:solidFill>
                <a:latin typeface="Microsoft JhengHei"/>
              </a:rPr>
              <a:t>2000 年雪梨奧運，100 米自由泳：</a:t>
            </a:r>
          </a:p>
          <a:p>
            <a:pPr algn="l"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700" b="1">
                <a:solidFill>
                  <a:srgbClr val="34C6D3"/>
                </a:solidFill>
                <a:latin typeface="Microsoft JhengHei"/>
              </a:rPr>
              <a:t>1 分 52 秒 72——該項目奧運史上最慢</a:t>
            </a:r>
          </a:p>
          <a:p>
            <a:pPr algn="l"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700" b="0" i="0">
                <a:solidFill>
                  <a:srgbClr val="B2C5D4"/>
                </a:solidFill>
                <a:latin typeface="Microsoft JhengHei"/>
              </a:rPr>
              <a:t>卻被稱為「奧運傳奇」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19072"/>
            <a:ext cx="566928" cy="27432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00029.jpg"/>
          <p:cNvPicPr>
            <a:picLocks noChangeAspect="1"/>
          </p:cNvPicPr>
          <p:nvPr/>
        </p:nvPicPr>
        <p:blipFill>
          <a:blip r:embed="rId2"/>
          <a:srcRect l="4" r="4"/>
          <a:stretch>
            <a:fillRect/>
          </a:stretch>
        </p:blipFill>
        <p:spPr>
          <a:xfrm>
            <a:off x="6446520" y="1874519"/>
            <a:ext cx="5074920" cy="25502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4580179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8497"/>
                </a:solidFill>
                <a:latin typeface="Microsoft JhengHei"/>
              </a:rPr>
              <a:t>埃里克・莫斯龐巴，2000 年雪梨奧運選手。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4375" y="62910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8497"/>
                </a:solidFill>
                <a:latin typeface="Microsoft JhengHei"/>
              </a:rPr>
              <a:t>03 / 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6199632"/>
            <a:ext cx="1737360" cy="18288"/>
          </a:xfrm>
          <a:prstGeom prst="rect">
            <a:avLst/>
          </a:prstGeom>
          <a:solidFill>
            <a:srgbClr val="1D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18971"/>
            <a:ext cx="274320" cy="32004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C6D3"/>
                </a:solidFill>
                <a:latin typeface="Microsoft JhengHei"/>
              </a:rPr>
              <a:t>02　他的國家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512064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3F7FA"/>
                </a:solidFill>
                <a:latin typeface="Microsoft JhengHei"/>
              </a:rPr>
              <a:t>人口不到 100 萬的非洲小國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95728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2C5D4"/>
                </a:solidFill>
                <a:latin typeface="Microsoft JhengHei"/>
              </a:rPr>
              <a:t>赤道幾內亞。影片說：這裡許多人一輩子沒見過游泳池，
更別說在泳池裡游泳。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315968"/>
            <a:ext cx="27432" cy="786384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4261104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3F7FA"/>
                </a:solidFill>
                <a:latin typeface="Microsoft JhengHei"/>
              </a:rPr>
              <a:t>＜100 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473659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8497"/>
                </a:solidFill>
                <a:latin typeface="Microsoft JhengHei"/>
              </a:rPr>
              <a:t>全國人口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4328" y="4315968"/>
            <a:ext cx="27432" cy="786384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25496" y="4261104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3F7FA"/>
                </a:solidFill>
                <a:latin typeface="Microsoft JhengHei"/>
              </a:rPr>
              <a:t>0 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96" y="473659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8497"/>
                </a:solidFill>
                <a:latin typeface="Microsoft JhengHei"/>
              </a:rPr>
              <a:t>奧運標準泳池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9976" y="4315968"/>
            <a:ext cx="27432" cy="786384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4261104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3F7FA"/>
                </a:solidFill>
                <a:latin typeface="Microsoft JhengHei"/>
              </a:rPr>
              <a:t>4 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473659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C8497"/>
                </a:solidFill>
                <a:latin typeface="Microsoft JhengHei"/>
              </a:rPr>
              <a:t>代表團規模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96128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8497"/>
                </a:solidFill>
                <a:latin typeface="Microsoft JhengHei"/>
              </a:rPr>
              <a:t>※ 數字取自影片旁白敘述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1810512"/>
            <a:ext cx="566928" cy="27432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00034.jpg"/>
          <p:cNvPicPr>
            <a:picLocks noChangeAspect="1"/>
          </p:cNvPicPr>
          <p:nvPr/>
        </p:nvPicPr>
        <p:blipFill>
          <a:blip r:embed="rId2"/>
          <a:srcRect l="4" r="4"/>
          <a:stretch>
            <a:fillRect/>
          </a:stretch>
        </p:blipFill>
        <p:spPr>
          <a:xfrm>
            <a:off x="6446520" y="1965960"/>
            <a:ext cx="5074920" cy="255021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46520" y="4671619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8497"/>
                </a:solidFill>
                <a:latin typeface="Microsoft JhengHei"/>
              </a:rPr>
              <a:t>赤道幾內亞首都馬拉博一帶。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74375" y="62910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8497"/>
                </a:solidFill>
                <a:latin typeface="Microsoft JhengHei"/>
              </a:rPr>
              <a:t>04 / 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6199632"/>
            <a:ext cx="1737360" cy="18288"/>
          </a:xfrm>
          <a:prstGeom prst="rect">
            <a:avLst/>
          </a:prstGeom>
          <a:solidFill>
            <a:srgbClr val="1D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18971"/>
            <a:ext cx="274320" cy="32004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C6D3"/>
                </a:solidFill>
                <a:latin typeface="Microsoft JhengHei"/>
              </a:rPr>
              <a:t>03　機會來得莫名其妙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525780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3F7FA"/>
                </a:solidFill>
                <a:latin typeface="Microsoft JhengHei"/>
              </a:rPr>
              <a:t>為了鼓勵體育落後的國家，
奧運降低了參賽門檻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3" y="3291839"/>
            <a:ext cx="27432" cy="1747265"/>
          </a:xfrm>
          <a:prstGeom prst="rect">
            <a:avLst/>
          </a:prstGeom>
          <a:solidFill>
            <a:srgbClr val="34C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525780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B2C5D4"/>
                </a:solidFill>
                <a:latin typeface="Microsoft JhengHei"/>
              </a:rPr>
              <a:t>2000 年雪梨奧運，他對奧運「完全沒有概念」</a:t>
            </a:r>
          </a:p>
          <a:p>
            <a:pPr algn="l"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50" b="0" i="0">
                <a:solidFill>
                  <a:srgbClr val="B2C5D4"/>
                </a:solidFill>
                <a:latin typeface="Microsoft JhengHei"/>
              </a:rPr>
              <a:t>直到聽見廣播徵召奧運游泳選手，心裡激起一絲波動</a:t>
            </a:r>
          </a:p>
          <a:p>
            <a:pPr algn="l"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50" b="1">
                <a:solidFill>
                  <a:srgbClr val="E9B44C"/>
                </a:solidFill>
                <a:latin typeface="Microsoft JhengHei"/>
              </a:rPr>
              <a:t>只有他一個人報名——就這樣成了奧運代表</a:t>
            </a:r>
          </a:p>
          <a:p>
            <a:pPr algn="l"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50" b="0" i="0">
                <a:solidFill>
                  <a:srgbClr val="B2C5D4"/>
                </a:solidFill>
                <a:latin typeface="Microsoft JhengHei"/>
              </a:rPr>
              <a:t>雖然，他當時還不會游泳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19072"/>
            <a:ext cx="566928" cy="27432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00724.jpg"/>
          <p:cNvPicPr>
            <a:picLocks noChangeAspect="1"/>
          </p:cNvPicPr>
          <p:nvPr/>
        </p:nvPicPr>
        <p:blipFill>
          <a:blip r:embed="rId2"/>
          <a:srcRect l="4" r="4"/>
          <a:stretch>
            <a:fillRect/>
          </a:stretch>
        </p:blipFill>
        <p:spPr>
          <a:xfrm>
            <a:off x="6446520" y="1874519"/>
            <a:ext cx="5074920" cy="25502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4580179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8497"/>
                </a:solidFill>
                <a:latin typeface="Microsoft JhengHei"/>
              </a:rPr>
              <a:t>首都馬拉博街景。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4375" y="62910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8497"/>
                </a:solidFill>
                <a:latin typeface="Microsoft JhengHei"/>
              </a:rPr>
              <a:t>05 / 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6199632"/>
            <a:ext cx="1737360" cy="18288"/>
          </a:xfrm>
          <a:prstGeom prst="rect">
            <a:avLst/>
          </a:prstGeom>
          <a:solidFill>
            <a:srgbClr val="1D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18971"/>
            <a:ext cx="274320" cy="32004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C6D3"/>
                </a:solidFill>
                <a:latin typeface="Microsoft JhengHei"/>
              </a:rPr>
              <a:t>04　練習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525780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3F7FA"/>
                </a:solidFill>
                <a:latin typeface="Microsoft JhengHei"/>
              </a:rPr>
              <a:t>他的泳池，
是飯店給房客用的 20 米水池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3" y="3200400"/>
            <a:ext cx="27432" cy="2005076"/>
          </a:xfrm>
          <a:prstGeom prst="rect">
            <a:avLst/>
          </a:prstGeom>
          <a:solidFill>
            <a:srgbClr val="34C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5257800" cy="2971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2C5D4"/>
                </a:solidFill>
                <a:latin typeface="Microsoft JhengHei"/>
              </a:rPr>
              <a:t>全國找不到練習場地，最後在首都馬拉博的飯店找到泳池</a:t>
            </a:r>
          </a:p>
          <a:p>
            <a:pPr algn="l"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 i="0">
                <a:solidFill>
                  <a:srgbClr val="B2C5D4"/>
                </a:solidFill>
                <a:latin typeface="Microsoft JhengHei"/>
              </a:rPr>
              <a:t>每天清晨 5 點報到；池子只有 20 米長</a:t>
            </a:r>
          </a:p>
          <a:p>
            <a:pPr algn="l"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 i="0">
                <a:solidFill>
                  <a:srgbClr val="B2C5D4"/>
                </a:solidFill>
                <a:latin typeface="Microsoft JhengHei"/>
              </a:rPr>
              <a:t>之後再到河裡、海裡繼續游</a:t>
            </a:r>
          </a:p>
          <a:p>
            <a:pPr algn="l"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 i="0">
                <a:solidFill>
                  <a:srgbClr val="B2C5D4"/>
                </a:solidFill>
                <a:latin typeface="Microsoft JhengHei"/>
              </a:rPr>
              <a:t>沒有專業教練，靠七拼八湊的指導，他學會了怎麼用腿和手臂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19072"/>
            <a:ext cx="566928" cy="27432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00133.jpg"/>
          <p:cNvPicPr>
            <a:picLocks noChangeAspect="1"/>
          </p:cNvPicPr>
          <p:nvPr/>
        </p:nvPicPr>
        <p:blipFill>
          <a:blip r:embed="rId2"/>
          <a:srcRect l="4" r="4"/>
          <a:stretch>
            <a:fillRect/>
          </a:stretch>
        </p:blipFill>
        <p:spPr>
          <a:xfrm>
            <a:off x="6446520" y="1874519"/>
            <a:ext cx="5074920" cy="25502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4580179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8497"/>
                </a:solidFill>
                <a:latin typeface="Microsoft JhengHei"/>
              </a:rPr>
              <a:t>馬拉博飯店的泳池——他唯一的練習場地。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4375" y="62910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8497"/>
                </a:solidFill>
                <a:latin typeface="Microsoft JhengHei"/>
              </a:rPr>
              <a:t>06 / 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6199632"/>
            <a:ext cx="1737360" cy="18288"/>
          </a:xfrm>
          <a:prstGeom prst="rect">
            <a:avLst/>
          </a:prstGeom>
          <a:solidFill>
            <a:srgbClr val="1D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18971"/>
            <a:ext cx="274320" cy="32004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C6D3"/>
                </a:solidFill>
                <a:latin typeface="Microsoft JhengHei"/>
              </a:rPr>
              <a:t>05　抵達雪梨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525780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3F7FA"/>
                </a:solidFill>
                <a:latin typeface="Microsoft JhengHei"/>
              </a:rPr>
              <a:t>「我的媽媽咪呀，
比我平時游的泳池大太多了」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3" y="3246120"/>
            <a:ext cx="27432" cy="2022538"/>
          </a:xfrm>
          <a:prstGeom prst="rect">
            <a:avLst/>
          </a:prstGeom>
          <a:solidFill>
            <a:srgbClr val="34C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5257800" cy="2926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B2C5D4"/>
                </a:solidFill>
                <a:latin typeface="Microsoft JhengHei"/>
              </a:rPr>
              <a:t>第一次見到 50 米標準泳池，他當場慌了</a:t>
            </a:r>
          </a:p>
          <a:p>
            <a:pPr algn="l">
              <a:lnSpc>
                <a:spcPct val="145000"/>
              </a:lnSpc>
              <a:spcBef>
                <a:spcPts val="1100"/>
              </a:spcBef>
              <a:spcAft>
                <a:spcPts val="0"/>
              </a:spcAft>
            </a:pPr>
            <a:r>
              <a:rPr sz="1550" b="0" i="0">
                <a:solidFill>
                  <a:srgbClr val="B2C5D4"/>
                </a:solidFill>
                <a:latin typeface="Microsoft JhengHei"/>
              </a:rPr>
              <a:t>更糟的是：代表團官員報錯了項目</a:t>
            </a:r>
          </a:p>
          <a:p>
            <a:pPr algn="l">
              <a:lnSpc>
                <a:spcPct val="145000"/>
              </a:lnSpc>
              <a:spcBef>
                <a:spcPts val="1100"/>
              </a:spcBef>
              <a:spcAft>
                <a:spcPts val="0"/>
              </a:spcAft>
            </a:pPr>
            <a:r>
              <a:rPr sz="1550" b="1">
                <a:solidFill>
                  <a:srgbClr val="34C6D3"/>
                </a:solidFill>
                <a:latin typeface="Microsoft JhengHei"/>
              </a:rPr>
              <a:t>他一直按 50 米準備，卻要游 100 米——距離多了一倍</a:t>
            </a:r>
          </a:p>
          <a:p>
            <a:pPr algn="l">
              <a:lnSpc>
                <a:spcPct val="145000"/>
              </a:lnSpc>
              <a:spcBef>
                <a:spcPts val="1100"/>
              </a:spcBef>
              <a:spcAft>
                <a:spcPts val="0"/>
              </a:spcAft>
            </a:pPr>
            <a:r>
              <a:rPr sz="1550" b="0" i="0">
                <a:solidFill>
                  <a:srgbClr val="B2C5D4"/>
                </a:solidFill>
                <a:latin typeface="Microsoft JhengHei"/>
              </a:rPr>
              <a:t>影片形容：像要從銀河系到另一個星系</a:t>
            </a:r>
          </a:p>
          <a:p>
            <a:pPr algn="l">
              <a:lnSpc>
                <a:spcPct val="145000"/>
              </a:lnSpc>
              <a:spcBef>
                <a:spcPts val="1100"/>
              </a:spcBef>
              <a:spcAft>
                <a:spcPts val="0"/>
              </a:spcAft>
            </a:pPr>
            <a:r>
              <a:rPr sz="1550" b="0" i="0">
                <a:solidFill>
                  <a:srgbClr val="B2C5D4"/>
                </a:solidFill>
                <a:latin typeface="Microsoft JhengHei"/>
              </a:rPr>
              <a:t>只能把握比賽前幾天，看南非、美國選手怎麼划水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810512"/>
            <a:ext cx="566928" cy="27432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00233.jpg"/>
          <p:cNvPicPr>
            <a:picLocks noChangeAspect="1"/>
          </p:cNvPicPr>
          <p:nvPr/>
        </p:nvPicPr>
        <p:blipFill>
          <a:blip r:embed="rId2"/>
          <a:srcRect l="4922" r="4922"/>
          <a:stretch>
            <a:fillRect/>
          </a:stretch>
        </p:blipFill>
        <p:spPr>
          <a:xfrm>
            <a:off x="6446520" y="1965960"/>
            <a:ext cx="5074920" cy="25502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4671619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8497"/>
                </a:solidFill>
                <a:latin typeface="Microsoft JhengHei"/>
              </a:rPr>
              <a:t>雪梨奧運游泳館，他第一次見到 50 米泳池。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4375" y="62910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8497"/>
                </a:solidFill>
                <a:latin typeface="Microsoft JhengHei"/>
              </a:rPr>
              <a:t>07 / 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6199632"/>
            <a:ext cx="1737360" cy="18288"/>
          </a:xfrm>
          <a:prstGeom prst="rect">
            <a:avLst/>
          </a:prstGeom>
          <a:solidFill>
            <a:srgbClr val="1D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18971"/>
            <a:ext cx="274320" cy="32004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C6D3"/>
                </a:solidFill>
                <a:latin typeface="Microsoft JhengHei"/>
              </a:rPr>
              <a:t>06　裝備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525780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3F7FA"/>
                </a:solidFill>
                <a:latin typeface="Microsoft JhengHei"/>
              </a:rPr>
              <a:t>一條二手商店買來的海灘褲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512064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9B44C"/>
                </a:solidFill>
                <a:latin typeface="Microsoft JhengHei"/>
              </a:rPr>
              <a:t>「你在幹什麼？你看起來像要去沙灘度假。」</a:t>
            </a:r>
          </a:p>
          <a:p>
            <a:pPr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</a:pPr>
            <a:r>
              <a:rPr sz="1550" b="1" i="0">
                <a:solidFill>
                  <a:srgbClr val="E9B44C"/>
                </a:solidFill>
                <a:latin typeface="Microsoft JhengHei"/>
              </a:rPr>
              <a:t>「你穿這條褲子會被取消比賽資格。」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279392"/>
            <a:ext cx="4206240" cy="18288"/>
          </a:xfrm>
          <a:prstGeom prst="rect">
            <a:avLst/>
          </a:prstGeom>
          <a:solidFill>
            <a:srgbClr val="1D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B2C5D4"/>
                </a:solidFill>
                <a:latin typeface="Microsoft JhengHei"/>
              </a:rPr>
              <a:t>有人送了他一副泳鏡和一條專業泳褲。
那是他第一次擁有真正的游泳裝備。</a:t>
            </a:r>
          </a:p>
          <a:p>
            <a:pPr algn="l">
              <a:lnSpc>
                <a:spcPct val="155000"/>
              </a:lnSpc>
              <a:spcBef>
                <a:spcPts val="1800"/>
              </a:spcBef>
              <a:spcAft>
                <a:spcPts val="0"/>
              </a:spcAft>
            </a:pPr>
            <a:r>
              <a:rPr sz="1300" b="0" i="0">
                <a:solidFill>
                  <a:srgbClr val="6C8497"/>
                </a:solidFill>
                <a:latin typeface="Microsoft JhengHei"/>
              </a:rPr>
              <a:t>他也是奧運史上，連換氣都還不會就下水比賽的選手。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1719072"/>
            <a:ext cx="566928" cy="27432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00330.jpg"/>
          <p:cNvPicPr>
            <a:picLocks noChangeAspect="1"/>
          </p:cNvPicPr>
          <p:nvPr/>
        </p:nvPicPr>
        <p:blipFill>
          <a:blip r:embed="rId2"/>
          <a:srcRect l="4" r="4"/>
          <a:stretch>
            <a:fillRect/>
          </a:stretch>
        </p:blipFill>
        <p:spPr>
          <a:xfrm>
            <a:off x="6446520" y="1874519"/>
            <a:ext cx="5074920" cy="25502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6520" y="4580179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8497"/>
                </a:solidFill>
                <a:latin typeface="Microsoft JhengHei"/>
              </a:rPr>
              <a:t>其他選手一身專業裝備，他只有一條海灘褲。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4375" y="62910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8497"/>
                </a:solidFill>
                <a:latin typeface="Microsoft JhengHei"/>
              </a:rPr>
              <a:t>08 / 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6199632"/>
            <a:ext cx="1737360" cy="18288"/>
          </a:xfrm>
          <a:prstGeom prst="rect">
            <a:avLst/>
          </a:prstGeom>
          <a:solidFill>
            <a:srgbClr val="1D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18971"/>
            <a:ext cx="274320" cy="32004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C6D3"/>
                </a:solidFill>
                <a:latin typeface="Microsoft JhengHei"/>
              </a:rPr>
              <a:t>07　比賽日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525780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3F7FA"/>
                </a:solidFill>
                <a:latin typeface="Microsoft JhengHei"/>
              </a:rPr>
              <a:t>同組兩人搶跳犯規，
全場只剩他一個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3" y="3200400"/>
            <a:ext cx="27432" cy="2022538"/>
          </a:xfrm>
          <a:prstGeom prst="rect">
            <a:avLst/>
          </a:prstGeom>
          <a:solidFill>
            <a:srgbClr val="34C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5257800" cy="2971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B2C5D4"/>
                </a:solidFill>
                <a:latin typeface="Microsoft JhengHei"/>
              </a:rPr>
              <a:t>初賽對手：塔吉克與奈及利亞選手，雙雙因搶跳被取消資格</a:t>
            </a:r>
          </a:p>
          <a:p>
            <a:pPr algn="l">
              <a:lnSpc>
                <a:spcPct val="145000"/>
              </a:lnSpc>
              <a:spcBef>
                <a:spcPts val="1100"/>
              </a:spcBef>
              <a:spcAft>
                <a:spcPts val="0"/>
              </a:spcAft>
            </a:pPr>
            <a:r>
              <a:rPr sz="1550" b="0" i="0">
                <a:solidFill>
                  <a:srgbClr val="B2C5D4"/>
                </a:solidFill>
                <a:latin typeface="Microsoft JhengHei"/>
              </a:rPr>
              <a:t>全球數十億觀眾的目光，全落在他身上</a:t>
            </a:r>
          </a:p>
          <a:p>
            <a:pPr algn="l">
              <a:lnSpc>
                <a:spcPct val="145000"/>
              </a:lnSpc>
              <a:spcBef>
                <a:spcPts val="1100"/>
              </a:spcBef>
              <a:spcAft>
                <a:spcPts val="0"/>
              </a:spcAft>
            </a:pPr>
            <a:r>
              <a:rPr sz="1550" b="0" i="0">
                <a:solidFill>
                  <a:srgbClr val="B2C5D4"/>
                </a:solidFill>
                <a:latin typeface="Microsoft JhengHei"/>
              </a:rPr>
              <a:t>他說：「我很怕別人會笑我。」</a:t>
            </a:r>
          </a:p>
          <a:p>
            <a:pPr algn="l">
              <a:lnSpc>
                <a:spcPct val="145000"/>
              </a:lnSpc>
              <a:spcBef>
                <a:spcPts val="1100"/>
              </a:spcBef>
              <a:spcAft>
                <a:spcPts val="0"/>
              </a:spcAft>
            </a:pPr>
            <a:r>
              <a:rPr sz="1550" b="1">
                <a:solidFill>
                  <a:srgbClr val="E9B44C"/>
                </a:solidFill>
                <a:latin typeface="Microsoft JhengHei"/>
              </a:rPr>
              <a:t>教練只回他一句：去吧！你可以的。</a:t>
            </a:r>
          </a:p>
          <a:p>
            <a:pPr algn="l">
              <a:lnSpc>
                <a:spcPct val="145000"/>
              </a:lnSpc>
              <a:spcBef>
                <a:spcPts val="1100"/>
              </a:spcBef>
              <a:spcAft>
                <a:spcPts val="0"/>
              </a:spcAft>
            </a:pPr>
            <a:r>
              <a:rPr sz="1550" b="0" i="0">
                <a:solidFill>
                  <a:srgbClr val="B2C5D4"/>
                </a:solidFill>
                <a:latin typeface="Microsoft JhengHei"/>
              </a:rPr>
              <a:t>他還是逼著自己，走到泳池邊、跳下水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64792"/>
            <a:ext cx="566928" cy="27432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00428.jpg"/>
          <p:cNvPicPr>
            <a:picLocks noChangeAspect="1"/>
          </p:cNvPicPr>
          <p:nvPr/>
        </p:nvPicPr>
        <p:blipFill>
          <a:blip r:embed="rId2"/>
          <a:srcRect l="4" r="4"/>
          <a:stretch>
            <a:fillRect/>
          </a:stretch>
        </p:blipFill>
        <p:spPr>
          <a:xfrm>
            <a:off x="6446520" y="1920240"/>
            <a:ext cx="5074920" cy="25502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4625899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8497"/>
                </a:solidFill>
                <a:latin typeface="Microsoft JhengHei"/>
              </a:rPr>
              <a:t>三人同組出發，最後只有他順利完賽。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4375" y="62910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8497"/>
                </a:solidFill>
                <a:latin typeface="Microsoft JhengHei"/>
              </a:rPr>
              <a:t>09 / 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6199632"/>
            <a:ext cx="1737360" cy="18288"/>
          </a:xfrm>
          <a:prstGeom prst="rect">
            <a:avLst/>
          </a:prstGeom>
          <a:solidFill>
            <a:srgbClr val="1D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18971"/>
            <a:ext cx="274320" cy="32004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C6D3"/>
                </a:solidFill>
                <a:latin typeface="Microsoft JhengHei"/>
              </a:rPr>
              <a:t>08　那 1 分 52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07008"/>
            <a:ext cx="585216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200" b="1" i="0">
                <a:solidFill>
                  <a:srgbClr val="F3F7FA"/>
                </a:solidFill>
                <a:latin typeface="Arial"/>
              </a:rPr>
              <a:t>1:52.72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4C6D3"/>
                </a:solidFill>
                <a:latin typeface="Microsoft JhengHei"/>
              </a:rPr>
              <a:t>奧運史上最慢的 100 米自由泳成績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11296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2C5D4"/>
                </a:solidFill>
                <a:latin typeface="Microsoft JhengHei"/>
              </a:rPr>
              <a:t>冠軍　霍根・班德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840480"/>
            <a:ext cx="1861126" cy="27432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7822" y="3822192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3F7FA"/>
                </a:solidFill>
                <a:latin typeface="Microsoft JhengHei"/>
              </a:rPr>
              <a:t>48.3 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71416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2C5D4"/>
                </a:solidFill>
                <a:latin typeface="Microsoft JhengHei"/>
              </a:rPr>
              <a:t>莫斯龐巴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800600"/>
            <a:ext cx="4343400" cy="274320"/>
          </a:xfrm>
          <a:prstGeom prst="rect">
            <a:avLst/>
          </a:prstGeom>
          <a:solidFill>
            <a:srgbClr val="34C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0096" y="4782312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3F7FA"/>
                </a:solidFill>
                <a:latin typeface="Microsoft JhengHei"/>
              </a:rPr>
              <a:t>112.7 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760720"/>
            <a:ext cx="56692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C8497"/>
                </a:solidFill>
                <a:latin typeface="Microsoft JhengHei"/>
              </a:rPr>
              <a:t>前 50 米游得還算正常。最後 25 米，解說員說：
「他可能隨時就要抱住泳道旁的繩索。」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221992"/>
            <a:ext cx="566928" cy="27432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00536.jpg"/>
          <p:cNvPicPr>
            <a:picLocks noChangeAspect="1"/>
          </p:cNvPicPr>
          <p:nvPr/>
        </p:nvPicPr>
        <p:blipFill>
          <a:blip r:embed="rId2"/>
          <a:srcRect l="824" r="824"/>
          <a:stretch>
            <a:fillRect/>
          </a:stretch>
        </p:blipFill>
        <p:spPr>
          <a:xfrm>
            <a:off x="7223760" y="2377440"/>
            <a:ext cx="4297680" cy="215963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23760" y="4692526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8497"/>
                </a:solidFill>
                <a:latin typeface="Microsoft JhengHei"/>
              </a:rPr>
              <a:t>他終於撐到終點。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74375" y="62910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8497"/>
                </a:solidFill>
                <a:latin typeface="Microsoft JhengHei"/>
              </a:rPr>
              <a:t>10 / 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6199632"/>
            <a:ext cx="1737360" cy="18288"/>
          </a:xfrm>
          <a:prstGeom prst="rect">
            <a:avLst/>
          </a:prstGeom>
          <a:solidFill>
            <a:srgbClr val="1D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544.jpg"/>
          <p:cNvPicPr>
            <a:picLocks noChangeAspect="1"/>
          </p:cNvPicPr>
          <p:nvPr/>
        </p:nvPicPr>
        <p:blipFill>
          <a:blip r:embed="rId2"/>
          <a:srcRect l="5337" r="533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crim_stro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68680" y="918971"/>
            <a:ext cx="274320" cy="32004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8686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C6D3"/>
                </a:solidFill>
                <a:latin typeface="Microsoft JhengHei"/>
              </a:rPr>
              <a:t>09　全場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512064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3F7FA"/>
                </a:solidFill>
                <a:latin typeface="Microsoft JhengHei"/>
              </a:rPr>
              <a:t>他沒有贏，
全場卻為他站起來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47872"/>
            <a:ext cx="416052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2C5D4"/>
                </a:solidFill>
                <a:latin typeface="Microsoft JhengHei"/>
              </a:rPr>
              <a:t>憑著一股信念，他撐到終點。所有人被他的精神打動，一路看完比賽。</a:t>
            </a:r>
          </a:p>
          <a:p>
            <a:pPr algn="l">
              <a:lnSpc>
                <a:spcPct val="165000"/>
              </a:lnSpc>
              <a:spcBef>
                <a:spcPts val="1400"/>
              </a:spcBef>
              <a:spcAft>
                <a:spcPts val="0"/>
              </a:spcAft>
            </a:pPr>
            <a:r>
              <a:rPr sz="1400" b="1" i="0">
                <a:solidFill>
                  <a:srgbClr val="E9B44C"/>
                </a:solidFill>
                <a:latin typeface="Microsoft JhengHei"/>
              </a:rPr>
              <a:t>轉播主播說：「這才是真正的奧林匹克精神。」</a:t>
            </a:r>
          </a:p>
          <a:p>
            <a:pPr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</a:pPr>
            <a:r>
              <a:rPr sz="1200" b="0" i="0">
                <a:solidFill>
                  <a:srgbClr val="6C8497"/>
                </a:solidFill>
                <a:latin typeface="Microsoft JhengHei"/>
              </a:rPr>
              <a:t>他沒有晉級下一輪。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18971"/>
            <a:ext cx="274320" cy="32004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C6D3"/>
                </a:solidFill>
                <a:latin typeface="Microsoft JhengHei"/>
              </a:rPr>
              <a:t>10　一夜成名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525780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3F7FA"/>
                </a:solidFill>
                <a:latin typeface="Microsoft JhengHei"/>
              </a:rPr>
              <a:t>回到選手村，
他才知道自己出名了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3" y="3200400"/>
            <a:ext cx="27432" cy="1710435"/>
          </a:xfrm>
          <a:prstGeom prst="rect">
            <a:avLst/>
          </a:prstGeom>
          <a:solidFill>
            <a:srgbClr val="34C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5257800" cy="2971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2C5D4"/>
                </a:solidFill>
                <a:latin typeface="Microsoft JhengHei"/>
              </a:rPr>
              <a:t>上午 11 點，發現自己的照片被貼了出來</a:t>
            </a:r>
          </a:p>
          <a:p>
            <a:pPr algn="l"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 i="0">
                <a:solidFill>
                  <a:srgbClr val="B2C5D4"/>
                </a:solidFill>
                <a:latin typeface="Microsoft JhengHei"/>
              </a:rPr>
              <a:t>人群立刻圍上來，要他簽名、合照</a:t>
            </a:r>
          </a:p>
          <a:p>
            <a:pPr algn="l"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0" i="0">
                <a:solidFill>
                  <a:srgbClr val="B2C5D4"/>
                </a:solidFill>
                <a:latin typeface="Microsoft JhengHei"/>
              </a:rPr>
              <a:t>在雪梨享受貴賓級禮遇：海灘衝浪、參觀港灣大橋</a:t>
            </a:r>
          </a:p>
          <a:p>
            <a:pPr algn="l"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00" b="1">
                <a:solidFill>
                  <a:srgbClr val="E9B44C"/>
                </a:solidFill>
                <a:latin typeface="Microsoft JhengHei"/>
              </a:rPr>
              <a:t>但在那之後，他沒有拿名氣去做什麼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19072"/>
            <a:ext cx="566928" cy="27432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00720.jpg"/>
          <p:cNvPicPr>
            <a:picLocks noChangeAspect="1"/>
          </p:cNvPicPr>
          <p:nvPr/>
        </p:nvPicPr>
        <p:blipFill>
          <a:blip r:embed="rId2"/>
          <a:srcRect l="4" r="4"/>
          <a:stretch>
            <a:fillRect/>
          </a:stretch>
        </p:blipFill>
        <p:spPr>
          <a:xfrm>
            <a:off x="6446520" y="1874519"/>
            <a:ext cx="5074920" cy="25502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4580179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8497"/>
                </a:solidFill>
                <a:latin typeface="Microsoft JhengHei"/>
              </a:rPr>
              <a:t>「Eric the Eel」——他成了雪梨的媒體寵兒。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74375" y="62910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8497"/>
                </a:solidFill>
                <a:latin typeface="Microsoft JhengHei"/>
              </a:rPr>
              <a:t>12 / 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6199632"/>
            <a:ext cx="1737360" cy="18288"/>
          </a:xfrm>
          <a:prstGeom prst="rect">
            <a:avLst/>
          </a:prstGeom>
          <a:solidFill>
            <a:srgbClr val="1D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18971"/>
            <a:ext cx="274320" cy="32004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C6D3"/>
                </a:solidFill>
                <a:latin typeface="Microsoft JhengHei"/>
              </a:rPr>
              <a:t>11　那條泳褲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61872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 i="0">
                <a:solidFill>
                  <a:srgbClr val="E9B44C"/>
                </a:solidFill>
                <a:latin typeface="Arial"/>
              </a:rPr>
              <a:t>US$4,000+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F7FA"/>
                </a:solidFill>
                <a:latin typeface="Microsoft JhengHei"/>
              </a:rPr>
              <a:t>他比賽時穿的泳褲，以超過 4,000 美元的價格被拍賣。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794760"/>
            <a:ext cx="4023360" cy="18288"/>
          </a:xfrm>
          <a:prstGeom prst="rect">
            <a:avLst/>
          </a:prstGeom>
          <a:solidFill>
            <a:srgbClr val="1D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069080"/>
            <a:ext cx="498348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2C5D4"/>
                </a:solidFill>
                <a:latin typeface="Microsoft JhengHei"/>
              </a:rPr>
              <a:t>名氣來得快，他卻沒有把它換成什麼。
回國之後，他做的第一件事，是繼續游泳。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1719072"/>
            <a:ext cx="566928" cy="27432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00634.jpg"/>
          <p:cNvPicPr>
            <a:picLocks noChangeAspect="1"/>
          </p:cNvPicPr>
          <p:nvPr/>
        </p:nvPicPr>
        <p:blipFill>
          <a:blip r:embed="rId2"/>
          <a:srcRect l="4" r="4"/>
          <a:stretch>
            <a:fillRect/>
          </a:stretch>
        </p:blipFill>
        <p:spPr>
          <a:xfrm>
            <a:off x="6446520" y="1874519"/>
            <a:ext cx="5074920" cy="25502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6520" y="4580179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8497"/>
                </a:solidFill>
                <a:latin typeface="Microsoft JhengHei"/>
              </a:rPr>
              <a:t>比賽時那副泳鏡與泳褲，成了收藏品。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4375" y="62910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8497"/>
                </a:solidFill>
                <a:latin typeface="Microsoft JhengHei"/>
              </a:rPr>
              <a:t>13 / 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6199632"/>
            <a:ext cx="1737360" cy="18288"/>
          </a:xfrm>
          <a:prstGeom prst="rect">
            <a:avLst/>
          </a:prstGeom>
          <a:solidFill>
            <a:srgbClr val="1D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18971"/>
            <a:ext cx="274320" cy="32004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C6D3"/>
                </a:solidFill>
                <a:latin typeface="Microsoft JhengHei"/>
              </a:rPr>
              <a:t>12　後來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525780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3F7FA"/>
                </a:solidFill>
                <a:latin typeface="Microsoft JhengHei"/>
              </a:rPr>
              <a:t>他沒有停在 1 分 52 秒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783" y="3063239"/>
            <a:ext cx="27432" cy="1747265"/>
          </a:xfrm>
          <a:prstGeom prst="rect">
            <a:avLst/>
          </a:prstGeom>
          <a:solidFill>
            <a:srgbClr val="34C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17520"/>
            <a:ext cx="5257800" cy="3108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B2C5D4"/>
                </a:solidFill>
                <a:latin typeface="Microsoft JhengHei"/>
              </a:rPr>
              <a:t>回國後接受專業游泳教練指導</a:t>
            </a:r>
          </a:p>
          <a:p>
            <a:pPr algn="l"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50" b="0" i="0">
                <a:solidFill>
                  <a:srgbClr val="B2C5D4"/>
                </a:solidFill>
                <a:latin typeface="Microsoft JhengHei"/>
              </a:rPr>
              <a:t>參加德國的一場游泳邀請賽</a:t>
            </a:r>
          </a:p>
          <a:p>
            <a:pPr algn="l"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50" b="1">
                <a:solidFill>
                  <a:srgbClr val="34C6D3"/>
                </a:solidFill>
                <a:latin typeface="Microsoft JhengHei"/>
              </a:rPr>
              <a:t>100 米自由泳進步到 52 秒 18</a:t>
            </a:r>
          </a:p>
          <a:p>
            <a:pPr algn="l">
              <a:lnSpc>
                <a:spcPct val="145000"/>
              </a:lnSpc>
              <a:spcBef>
                <a:spcPts val="1300"/>
              </a:spcBef>
              <a:spcAft>
                <a:spcPts val="0"/>
              </a:spcAft>
            </a:pPr>
            <a:r>
              <a:rPr sz="1650" b="0" i="0">
                <a:solidFill>
                  <a:srgbClr val="B2C5D4"/>
                </a:solidFill>
                <a:latin typeface="Microsoft JhengHei"/>
              </a:rPr>
              <a:t>現在，他是國家隊教練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44068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C8497"/>
                </a:solidFill>
                <a:latin typeface="Microsoft JhengHei"/>
              </a:rPr>
              <a:t>從 112.7 秒到 52.18 秒——他把自己游成了別人的教練。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1719072"/>
            <a:ext cx="566928" cy="27432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00337.jpg"/>
          <p:cNvPicPr>
            <a:picLocks noChangeAspect="1"/>
          </p:cNvPicPr>
          <p:nvPr/>
        </p:nvPicPr>
        <p:blipFill>
          <a:blip r:embed="rId2"/>
          <a:srcRect l="4" r="4"/>
          <a:stretch>
            <a:fillRect/>
          </a:stretch>
        </p:blipFill>
        <p:spPr>
          <a:xfrm>
            <a:off x="6446520" y="1874519"/>
            <a:ext cx="5074920" cy="25502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6520" y="4580179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8497"/>
                </a:solidFill>
                <a:latin typeface="Microsoft JhengHei"/>
              </a:rPr>
              <a:t>當年的他，站在雪梨的池邊。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4375" y="62910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8497"/>
                </a:solidFill>
                <a:latin typeface="Microsoft JhengHei"/>
              </a:rPr>
              <a:t>14 / 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6199632"/>
            <a:ext cx="1737360" cy="18288"/>
          </a:xfrm>
          <a:prstGeom prst="rect">
            <a:avLst/>
          </a:prstGeom>
          <a:solidFill>
            <a:srgbClr val="1D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918971"/>
            <a:ext cx="274320" cy="32004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4C6D3"/>
                </a:solidFill>
                <a:latin typeface="Microsoft JhengHei"/>
              </a:rPr>
              <a:t>13　留下來的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525780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3F7FA"/>
                </a:solidFill>
                <a:latin typeface="Microsoft JhengHei"/>
              </a:rPr>
              <a:t>因為他的故事，
國內蓋了兩座奧運標準泳池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8328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2C5D4"/>
                </a:solidFill>
                <a:latin typeface="Microsoft JhengHei"/>
              </a:rPr>
              <a:t>Eric 說：這樣一來，選手就不會再像他當年一樣害怕了。</a:t>
            </a:r>
          </a:p>
          <a:p>
            <a:pPr algn="l">
              <a:lnSpc>
                <a:spcPct val="155000"/>
              </a:lnSpc>
              <a:spcBef>
                <a:spcPts val="2000"/>
              </a:spcBef>
              <a:spcAft>
                <a:spcPts val="0"/>
              </a:spcAft>
            </a:pPr>
            <a:r>
              <a:rPr sz="1300" b="0" i="0">
                <a:solidFill>
                  <a:srgbClr val="6C8497"/>
                </a:solidFill>
                <a:latin typeface="Microsoft JhengHei"/>
              </a:rPr>
              <a:t>他從一個沒有泳池的國家出發，最後為那個國家留下了泳池。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1719072"/>
            <a:ext cx="566928" cy="27432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00730.jpg"/>
          <p:cNvPicPr>
            <a:picLocks noChangeAspect="1"/>
          </p:cNvPicPr>
          <p:nvPr/>
        </p:nvPicPr>
        <p:blipFill>
          <a:blip r:embed="rId2"/>
          <a:srcRect l="4" r="4"/>
          <a:stretch>
            <a:fillRect/>
          </a:stretch>
        </p:blipFill>
        <p:spPr>
          <a:xfrm>
            <a:off x="6446520" y="1874519"/>
            <a:ext cx="5074920" cy="25502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4580179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C8497"/>
                </a:solidFill>
                <a:latin typeface="Microsoft JhengHei"/>
              </a:rPr>
              <a:t>今日赤道幾內亞的標準泳池。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4375" y="629107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C8497"/>
                </a:solidFill>
                <a:latin typeface="Microsoft JhengHei"/>
              </a:rPr>
              <a:t>15 / 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6199632"/>
            <a:ext cx="1737360" cy="18288"/>
          </a:xfrm>
          <a:prstGeom prst="rect">
            <a:avLst/>
          </a:prstGeom>
          <a:solidFill>
            <a:srgbClr val="1D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742.jpg"/>
          <p:cNvPicPr>
            <a:picLocks noChangeAspect="1"/>
          </p:cNvPicPr>
          <p:nvPr/>
        </p:nvPicPr>
        <p:blipFill>
          <a:blip r:embed="rId2"/>
          <a:srcRect l="5337" r="533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crim_fl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192024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F3F7FA"/>
                </a:solidFill>
                <a:latin typeface="Microsoft JhengHei"/>
              </a:rPr>
              <a:t>「人生中最本質的東西，
不是凱旋，而是奮力拼搏。」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367528" y="4370832"/>
            <a:ext cx="1463040" cy="27432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6451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4C6D3"/>
                </a:solidFill>
                <a:latin typeface="Microsoft JhengHei"/>
              </a:rPr>
              <a:t>那麼，你呢？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AB0BF"/>
                </a:solidFill>
                <a:latin typeface="Microsoft JhengHei"/>
              </a:rPr>
              <a:t>內容整理自影片《放鬆報 RELAX》（8 分 07 秒）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